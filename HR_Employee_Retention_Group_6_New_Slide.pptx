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0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731520"/>
            <a:ext cx="109728" cy="5212080"/>
          </a:xfrm>
          <a:prstGeom prst="rect">
            <a:avLst/>
          </a:prstGeom>
          <a:solidFill>
            <a:srgbClr val="25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875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8C8B"/>
                </a:solidFill>
              </a:defRPr>
            </a:pPr>
            <a:r>
              <a:t>HR ANALYTICS</a:t>
            </a:r>
          </a:p>
          <a:p>
            <a:pPr>
              <a:spcBef>
                <a:spcPts val="1000"/>
              </a:spcBef>
              <a:defRPr sz="4200" b="1">
                <a:solidFill>
                  <a:srgbClr val="FFFFFF"/>
                </a:solidFill>
              </a:defRPr>
            </a:pPr>
            <a:r>
              <a:t>Employee Retention</a:t>
            </a:r>
          </a:p>
          <a:p>
            <a:pPr>
              <a:spcBef>
                <a:spcPts val="800"/>
              </a:spcBef>
              <a:defRPr sz="2200">
                <a:solidFill>
                  <a:srgbClr val="CDD8E5"/>
                </a:solidFill>
              </a:defRPr>
            </a:pPr>
            <a:r>
              <a:t>Data Analysis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206240"/>
            <a:ext cx="9601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Datasets: HR_1 &amp; HR_2  |  50,000 records each</a:t>
            </a:r>
          </a:p>
          <a:p>
            <a:pPr>
              <a:defRPr sz="1200">
                <a:solidFill>
                  <a:srgbClr val="CDD8E5"/>
                </a:solidFill>
              </a:defRPr>
            </a:pPr>
            <a:r>
              <a:t>Domain: HR Analytics  •  Employee Retention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34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GROUP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1577340"/>
            <a:ext cx="9753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F4E79"/>
                </a:solidFill>
              </a:defRPr>
            </a:pPr>
            <a:r>
              <a:t>HR Analytics — Employee Retention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606040"/>
            <a:ext cx="853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TEAM MEMBERS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8400" y="3291840"/>
            <a:ext cx="7315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900"/>
            </a:pPr>
            <a:r>
              <a:t>Hemaram</a:t>
            </a:r>
          </a:p>
          <a:p>
            <a:pPr algn="ctr">
              <a:spcAft>
                <a:spcPts val="800"/>
              </a:spcAft>
              <a:defRPr sz="1900"/>
            </a:pPr>
            <a:r>
              <a:t>Ganesh</a:t>
            </a:r>
          </a:p>
          <a:p>
            <a:pPr algn="ctr">
              <a:spcAft>
                <a:spcPts val="800"/>
              </a:spcAft>
              <a:defRPr sz="1900"/>
            </a:pPr>
            <a:r>
              <a:t>Nadhini</a:t>
            </a:r>
          </a:p>
          <a:p>
            <a:pPr algn="ctr">
              <a:spcAft>
                <a:spcPts val="800"/>
              </a:spcAft>
              <a:defRPr sz="1900"/>
            </a:pPr>
            <a:r>
              <a:t>Amit</a:t>
            </a:r>
          </a:p>
          <a:p>
            <a:pPr algn="ctr">
              <a:spcAft>
                <a:spcPts val="800"/>
              </a:spcAft>
              <a:defRPr sz="1900"/>
            </a:pPr>
            <a:r>
              <a:t>Vaseem</a:t>
            </a:r>
          </a:p>
          <a:p>
            <a:pPr algn="ctr">
              <a:spcAft>
                <a:spcPts val="800"/>
              </a:spcAft>
              <a:defRPr sz="1900"/>
            </a:pPr>
            <a:r>
              <a:t>Suma</a:t>
            </a:r>
          </a:p>
          <a:p>
            <a:pPr algn="ctr">
              <a:spcAft>
                <a:spcPts val="800"/>
              </a:spcAft>
              <a:defRPr sz="1900"/>
            </a:pPr>
            <a:r>
              <a:t>Sanjana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2438400" y="6191795"/>
            <a:ext cx="7315200" cy="8229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43A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874"/>
                </a:solidFill>
              </a:defRPr>
            </a:pPr>
            <a:r>
              <a:t>Understanding employee retention using HR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1417320"/>
          </a:xfrm>
          <a:prstGeom prst="rect">
            <a:avLst/>
          </a:prstGeom>
          <a:solidFill>
            <a:srgbClr val="25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600200"/>
            <a:ext cx="21031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A"/>
                </a:solidFill>
              </a:defRPr>
            </a:pPr>
            <a:r>
              <a:t>100,000</a:t>
            </a:r>
          </a:p>
          <a:p>
            <a:pPr>
              <a:spcBef>
                <a:spcPts val="500"/>
              </a:spcBef>
              <a:defRPr sz="1000">
                <a:solidFill>
                  <a:srgbClr val="5C6874"/>
                </a:solidFill>
              </a:defRPr>
            </a:pPr>
            <a:r>
              <a:t>Source rows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1732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29000" y="1417320"/>
            <a:ext cx="73152" cy="1417320"/>
          </a:xfrm>
          <a:prstGeom prst="rect">
            <a:avLst/>
          </a:prstGeom>
          <a:solidFill>
            <a:srgbClr val="2D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30168" y="1600200"/>
            <a:ext cx="21031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A"/>
                </a:solidFill>
              </a:defRPr>
            </a:pPr>
            <a:r>
              <a:t>50,000</a:t>
            </a:r>
          </a:p>
          <a:p>
            <a:pPr>
              <a:spcBef>
                <a:spcPts val="500"/>
              </a:spcBef>
              <a:defRPr sz="1000">
                <a:solidFill>
                  <a:srgbClr val="5C6874"/>
                </a:solidFill>
              </a:defRPr>
            </a:pPr>
            <a:r>
              <a:t>Matched employees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417320"/>
            <a:ext cx="73152" cy="1417320"/>
          </a:xfrm>
          <a:prstGeom prst="rect">
            <a:avLst/>
          </a:prstGeom>
          <a:solidFill>
            <a:srgbClr val="328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1600200"/>
            <a:ext cx="21031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A"/>
                </a:solidFill>
              </a:defRPr>
            </a:pPr>
            <a:r>
              <a:t>36</a:t>
            </a:r>
          </a:p>
          <a:p>
            <a:pPr>
              <a:spcBef>
                <a:spcPts val="500"/>
              </a:spcBef>
              <a:defRPr sz="1000">
                <a:solidFill>
                  <a:srgbClr val="5C6874"/>
                </a:solidFill>
              </a:defRPr>
            </a:pPr>
            <a:r>
              <a:t>Combined fields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141732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915400" y="1417320"/>
            <a:ext cx="73152" cy="1417320"/>
          </a:xfrm>
          <a:prstGeom prst="rect">
            <a:avLst/>
          </a:prstGeom>
          <a:solidFill>
            <a:srgbClr val="25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16568" y="1600200"/>
            <a:ext cx="21031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A"/>
                </a:solidFill>
              </a:defRPr>
            </a:pPr>
            <a:r>
              <a:t>50.21%</a:t>
            </a:r>
          </a:p>
          <a:p>
            <a:pPr>
              <a:spcBef>
                <a:spcPts val="500"/>
              </a:spcBef>
              <a:defRPr sz="1000">
                <a:solidFill>
                  <a:srgbClr val="5C6874"/>
                </a:solidFill>
              </a:defRPr>
            </a:pPr>
            <a:r>
              <a:t>Overall attrition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24612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4243A"/>
                </a:solidFill>
              </a:defRPr>
            </a:pPr>
            <a:r>
              <a:t>Goal: identify patterns associated with employee attrition and retention.</a:t>
            </a:r>
          </a:p>
          <a:p>
            <a:pPr>
              <a:spcAft>
                <a:spcPts val="1200"/>
              </a:spcAft>
              <a:defRPr sz="1500">
                <a:solidFill>
                  <a:srgbClr val="14243A"/>
                </a:solidFill>
              </a:defRPr>
            </a:pPr>
            <a:r>
              <a:t>HR_1 contains demographic, department, satisfaction and job information.</a:t>
            </a:r>
          </a:p>
          <a:p>
            <a:pPr>
              <a:spcAft>
                <a:spcPts val="1200"/>
              </a:spcAft>
              <a:defRPr sz="1500">
                <a:solidFill>
                  <a:srgbClr val="14243A"/>
                </a:solidFill>
              </a:defRPr>
            </a:pPr>
            <a:r>
              <a:t>HR_2 contains income, overtime, tenure, promotion and work-life balance information.</a:t>
            </a:r>
          </a:p>
          <a:p>
            <a:pPr>
              <a:spcAft>
                <a:spcPts val="1200"/>
              </a:spcAft>
              <a:defRPr sz="1500">
                <a:solidFill>
                  <a:srgbClr val="14243A"/>
                </a:solidFill>
              </a:defRPr>
            </a:pPr>
            <a:r>
              <a:t>The two datasets were joined using EmployeeNumber from HR_1 and Employee ID from HR_2.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43A"/>
                </a:solidFill>
              </a:defRPr>
            </a:pPr>
            <a:r>
              <a:t>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874"/>
                </a:solidFill>
              </a:defRPr>
            </a:pPr>
            <a:r>
              <a:t>Combining the two HR datasets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4243A"/>
                </a:solidFill>
              </a:defRPr>
            </a:pPr>
            <a:r>
              <a:t>Loaded HR_1 and HR_2 Excel datasets.</a:t>
            </a:r>
          </a:p>
          <a:p>
            <a:pPr>
              <a:spcAft>
                <a:spcPts val="1200"/>
              </a:spcAft>
              <a:defRPr sz="1700">
                <a:solidFill>
                  <a:srgbClr val="14243A"/>
                </a:solidFill>
              </a:defRPr>
            </a:pPr>
            <a:r>
              <a:t>Verified the employee identifier fields and matched all 50,000 employees.</a:t>
            </a:r>
          </a:p>
          <a:p>
            <a:pPr>
              <a:spcAft>
                <a:spcPts val="1200"/>
              </a:spcAft>
              <a:defRPr sz="1700">
                <a:solidFill>
                  <a:srgbClr val="14243A"/>
                </a:solidFill>
              </a:defRPr>
            </a:pPr>
            <a:r>
              <a:t>Merged the datasets into one analysis table containing 36 columns.</a:t>
            </a:r>
          </a:p>
          <a:p>
            <a:pPr>
              <a:spcAft>
                <a:spcPts val="1200"/>
              </a:spcAft>
              <a:defRPr sz="1700">
                <a:solidFill>
                  <a:srgbClr val="14243A"/>
                </a:solidFill>
              </a:defRPr>
            </a:pPr>
            <a:r>
              <a:t>Created derived fields such as Monthly Income bands for comparison.</a:t>
            </a:r>
          </a:p>
          <a:p>
            <a:pPr>
              <a:spcAft>
                <a:spcPts val="1200"/>
              </a:spcAft>
              <a:defRPr sz="1700">
                <a:solidFill>
                  <a:srgbClr val="14243A"/>
                </a:solidFill>
              </a:defRPr>
            </a:pPr>
            <a:r>
              <a:t>Calculated KPI measures using employee-level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5074920"/>
            <a:ext cx="28346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955279" y="5074920"/>
            <a:ext cx="73152" cy="914400"/>
          </a:xfrm>
          <a:prstGeom prst="rect">
            <a:avLst/>
          </a:prstGeom>
          <a:solidFill>
            <a:srgbClr val="2D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56448" y="5257800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A"/>
                </a:solidFill>
              </a:defRPr>
            </a:pPr>
            <a:r>
              <a:t>50,000</a:t>
            </a:r>
          </a:p>
          <a:p>
            <a:pPr>
              <a:spcBef>
                <a:spcPts val="500"/>
              </a:spcBef>
              <a:defRPr sz="1000">
                <a:solidFill>
                  <a:srgbClr val="5C6874"/>
                </a:solidFill>
              </a:defRPr>
            </a:pPr>
            <a:r>
              <a:t>Successful employee matches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43A"/>
                </a:solidFill>
              </a:defRPr>
            </a:pPr>
            <a:r>
              <a:t>KPI 1 — Attrition Rate by Department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874"/>
                </a:solidFill>
              </a:defRPr>
            </a:pPr>
            <a:r>
              <a:t>The project brief asks for attrition analysis across departments</a:t>
            </a:r>
          </a:p>
        </p:txBody>
      </p:sp>
      <p:pic>
        <p:nvPicPr>
          <p:cNvPr id="5" name="Picture 4" descr="dept_at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6766560" cy="357359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1417320"/>
            <a:ext cx="3291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818120" y="1417320"/>
            <a:ext cx="73152" cy="1143000"/>
          </a:xfrm>
          <a:prstGeom prst="rect">
            <a:avLst/>
          </a:prstGeom>
          <a:solidFill>
            <a:srgbClr val="25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19288" y="1600200"/>
            <a:ext cx="29260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A"/>
                </a:solidFill>
              </a:defRPr>
            </a:pPr>
            <a:r>
              <a:t>50.21%</a:t>
            </a:r>
          </a:p>
          <a:p>
            <a:pPr>
              <a:spcBef>
                <a:spcPts val="500"/>
              </a:spcBef>
              <a:defRPr sz="1000">
                <a:solidFill>
                  <a:srgbClr val="5C6874"/>
                </a:solidFill>
              </a:defRPr>
            </a:pPr>
            <a:r>
              <a:t>Overall attrition 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2743200"/>
            <a:ext cx="3291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18120" y="2743200"/>
            <a:ext cx="73152" cy="1143000"/>
          </a:xfrm>
          <a:prstGeom prst="rect">
            <a:avLst/>
          </a:prstGeom>
          <a:solidFill>
            <a:srgbClr val="2D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19288" y="2926080"/>
            <a:ext cx="29260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A"/>
                </a:solidFill>
              </a:defRPr>
            </a:pPr>
            <a:r>
              <a:t>50.21%</a:t>
            </a:r>
          </a:p>
          <a:p>
            <a:pPr>
              <a:spcBef>
                <a:spcPts val="500"/>
              </a:spcBef>
              <a:defRPr sz="1000">
                <a:solidFill>
                  <a:srgbClr val="5C6874"/>
                </a:solidFill>
              </a:defRPr>
            </a:pPr>
            <a:r>
              <a:t>Average of department rates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416052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14243A"/>
                </a:solidFill>
              </a:defRPr>
            </a:pPr>
            <a:r>
              <a:t>Highest: Research &amp; Development (51.21%).</a:t>
            </a:r>
          </a:p>
          <a:p>
            <a:pPr>
              <a:spcAft>
                <a:spcPts val="1200"/>
              </a:spcAft>
              <a:defRPr sz="1200">
                <a:solidFill>
                  <a:srgbClr val="14243A"/>
                </a:solidFill>
              </a:defRPr>
            </a:pPr>
            <a:r>
              <a:t>Lowest: Hardware (49.44%).</a:t>
            </a:r>
          </a:p>
          <a:p>
            <a:pPr>
              <a:spcAft>
                <a:spcPts val="1200"/>
              </a:spcAft>
              <a:defRPr sz="1200">
                <a:solidFill>
                  <a:srgbClr val="14243A"/>
                </a:solidFill>
              </a:defRPr>
            </a:pPr>
            <a:r>
              <a:t>Department rates are tightly clustered around 50%, so department alone shows limited separation in this dataset.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43A"/>
                </a:solidFill>
              </a:defRPr>
            </a:pPr>
            <a:r>
              <a:t>KPI 2 — Male Research Scientist Hourly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874"/>
                </a:solidFill>
              </a:defRPr>
            </a:pPr>
            <a:r>
              <a:t>Average hourly rate for the specified employee segment</a:t>
            </a:r>
          </a:p>
        </p:txBody>
      </p:sp>
      <p:pic>
        <p:nvPicPr>
          <p:cNvPr id="5" name="Picture 4" descr="dept_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6217920" cy="328589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0" y="1508760"/>
            <a:ext cx="3749039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0" y="1508760"/>
            <a:ext cx="73152" cy="1508760"/>
          </a:xfrm>
          <a:prstGeom prst="rect">
            <a:avLst/>
          </a:prstGeom>
          <a:solidFill>
            <a:srgbClr val="25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16368" y="1691639"/>
            <a:ext cx="3383279" cy="1234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A"/>
                </a:solidFill>
              </a:defRPr>
            </a:pPr>
            <a:r>
              <a:t>114.45</a:t>
            </a:r>
          </a:p>
          <a:p>
            <a:pPr>
              <a:spcBef>
                <a:spcPts val="500"/>
              </a:spcBef>
              <a:defRPr sz="1000">
                <a:solidFill>
                  <a:srgbClr val="5C6874"/>
                </a:solidFill>
              </a:defRPr>
            </a:pPr>
            <a:r>
              <a:t>Average hourly rate</a:t>
            </a:r>
            <a:br/>
            <a:r>
              <a:t>Male Research Scientists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3337560"/>
            <a:ext cx="374903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3337560"/>
            <a:ext cx="73152" cy="1234440"/>
          </a:xfrm>
          <a:prstGeom prst="rect">
            <a:avLst/>
          </a:prstGeom>
          <a:solidFill>
            <a:srgbClr val="2D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16368" y="3520440"/>
            <a:ext cx="3383279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A"/>
                </a:solidFill>
              </a:defRPr>
            </a:pPr>
            <a:r>
              <a:t>2,589</a:t>
            </a:r>
          </a:p>
          <a:p>
            <a:pPr>
              <a:spcBef>
                <a:spcPts val="500"/>
              </a:spcBef>
              <a:defRPr sz="1000">
                <a:solidFill>
                  <a:srgbClr val="5C6874"/>
                </a:solidFill>
              </a:defRPr>
            </a:pPr>
            <a:r>
              <a:t>Employees in this segment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4800600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14243A"/>
                </a:solidFill>
              </a:defRPr>
            </a:pPr>
            <a:r>
              <a:t>Hourly rate is analyzed from HR_1.</a:t>
            </a:r>
          </a:p>
          <a:p>
            <a:pPr>
              <a:spcAft>
                <a:spcPts val="1200"/>
              </a:spcAft>
              <a:defRPr sz="1100">
                <a:solidFill>
                  <a:srgbClr val="14243A"/>
                </a:solidFill>
              </a:defRPr>
            </a:pPr>
            <a:r>
              <a:t>The left chart also shows average total working years by department as the next project KPI.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43A"/>
                </a:solidFill>
              </a:defRPr>
            </a:pPr>
            <a:r>
              <a:t>KPI 3 — Attrition vs Monthly Income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874"/>
                </a:solidFill>
              </a:defRPr>
            </a:pPr>
            <a:r>
              <a:t>Comparing attrition across monthly-income bands</a:t>
            </a:r>
          </a:p>
        </p:txBody>
      </p:sp>
      <p:pic>
        <p:nvPicPr>
          <p:cNvPr id="5" name="Picture 4" descr="income_at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6949440" cy="366583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955279" y="1417320"/>
            <a:ext cx="3200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955279" y="1417320"/>
            <a:ext cx="73152" cy="1143000"/>
          </a:xfrm>
          <a:prstGeom prst="rect">
            <a:avLst/>
          </a:prstGeom>
          <a:solidFill>
            <a:srgbClr val="25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56448" y="1600200"/>
            <a:ext cx="28346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A"/>
                </a:solidFill>
              </a:defRPr>
            </a:pPr>
            <a:r>
              <a:t>51.26%</a:t>
            </a:r>
          </a:p>
          <a:p>
            <a:pPr>
              <a:spcBef>
                <a:spcPts val="500"/>
              </a:spcBef>
              <a:defRPr sz="1000">
                <a:solidFill>
                  <a:srgbClr val="5C6874"/>
                </a:solidFill>
              </a:defRPr>
            </a:pPr>
            <a:r>
              <a:t>Highest income-band attrition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2788920"/>
            <a:ext cx="3200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955279" y="2788920"/>
            <a:ext cx="73152" cy="1143000"/>
          </a:xfrm>
          <a:prstGeom prst="rect">
            <a:avLst/>
          </a:prstGeom>
          <a:solidFill>
            <a:srgbClr val="2D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56448" y="2971800"/>
            <a:ext cx="28346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A"/>
                </a:solidFill>
              </a:defRPr>
            </a:pPr>
            <a:r>
              <a:t>49.55%</a:t>
            </a:r>
          </a:p>
          <a:p>
            <a:pPr>
              <a:spcBef>
                <a:spcPts val="500"/>
              </a:spcBef>
              <a:defRPr sz="1000">
                <a:solidFill>
                  <a:srgbClr val="5C6874"/>
                </a:solidFill>
              </a:defRPr>
            </a:pPr>
            <a:r>
              <a:t>Lowest income-band attrition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425196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14243A"/>
                </a:solidFill>
              </a:defRPr>
            </a:pPr>
            <a:r>
              <a:t>Highest observed band: 50k+.</a:t>
            </a:r>
          </a:p>
          <a:p>
            <a:pPr>
              <a:spcAft>
                <a:spcPts val="1200"/>
              </a:spcAft>
              <a:defRPr sz="1200">
                <a:solidFill>
                  <a:srgbClr val="14243A"/>
                </a:solidFill>
              </a:defRPr>
            </a:pPr>
            <a:r>
              <a:t>Lowest observed band: 15–20k.</a:t>
            </a:r>
          </a:p>
          <a:p>
            <a:pPr>
              <a:spcAft>
                <a:spcPts val="1200"/>
              </a:spcAft>
              <a:defRPr sz="1200">
                <a:solidFill>
                  <a:srgbClr val="14243A"/>
                </a:solidFill>
              </a:defRPr>
            </a:pPr>
            <a:r>
              <a:t>Attrition remains close to 50% across bands, indicating a weak standalone relationship in this dataset.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43A"/>
                </a:solidFill>
              </a:defRPr>
            </a:pPr>
            <a:r>
              <a:t>KPI 4 — Average Working Years by Department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874"/>
                </a:solidFill>
              </a:defRPr>
            </a:pPr>
            <a:r>
              <a:t>Average TotalWorkingYears for each department</a:t>
            </a:r>
          </a:p>
        </p:txBody>
      </p:sp>
      <p:pic>
        <p:nvPicPr>
          <p:cNvPr id="5" name="Picture 4" descr="dept_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7406640" cy="391407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58200" y="1600200"/>
            <a:ext cx="2743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58200" y="1600200"/>
            <a:ext cx="73152" cy="1234440"/>
          </a:xfrm>
          <a:prstGeom prst="rect">
            <a:avLst/>
          </a:prstGeom>
          <a:solidFill>
            <a:srgbClr val="25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59368" y="1783080"/>
            <a:ext cx="23774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A"/>
                </a:solidFill>
              </a:defRPr>
            </a:pPr>
            <a:r>
              <a:t>20.65 yrs</a:t>
            </a:r>
          </a:p>
          <a:p>
            <a:pPr>
              <a:spcBef>
                <a:spcPts val="500"/>
              </a:spcBef>
              <a:defRPr sz="1000">
                <a:solidFill>
                  <a:srgbClr val="5C6874"/>
                </a:solidFill>
              </a:defRPr>
            </a:pPr>
            <a:r>
              <a:t>Highest: Software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3108960"/>
            <a:ext cx="2743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458200" y="3108960"/>
            <a:ext cx="73152" cy="1234440"/>
          </a:xfrm>
          <a:prstGeom prst="rect">
            <a:avLst/>
          </a:prstGeom>
          <a:solidFill>
            <a:srgbClr val="2D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59368" y="3291840"/>
            <a:ext cx="23774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A"/>
                </a:solidFill>
              </a:defRPr>
            </a:pPr>
            <a:r>
              <a:t>20.30 yrs</a:t>
            </a:r>
          </a:p>
          <a:p>
            <a:pPr>
              <a:spcBef>
                <a:spcPts val="500"/>
              </a:spcBef>
              <a:defRPr sz="1000">
                <a:solidFill>
                  <a:srgbClr val="5C6874"/>
                </a:solidFill>
              </a:defRPr>
            </a:pPr>
            <a:r>
              <a:t>Lowest: Research &amp; Development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466344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14243A"/>
                </a:solidFill>
              </a:defRPr>
            </a:pPr>
            <a:r>
              <a:t>Working-year averages are also closely grouped.</a:t>
            </a:r>
          </a:p>
          <a:p>
            <a:pPr>
              <a:spcAft>
                <a:spcPts val="1200"/>
              </a:spcAft>
              <a:defRPr sz="1100">
                <a:solidFill>
                  <a:srgbClr val="14243A"/>
                </a:solidFill>
              </a:defRPr>
            </a:pPr>
            <a:r>
              <a:t>Sales and Software are marginally higher than the other departments.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43A"/>
                </a:solidFill>
              </a:defRPr>
            </a:pPr>
            <a:r>
              <a:t>KPI 5 — Job Role vs Work-Life 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874"/>
                </a:solidFill>
              </a:defRPr>
            </a:pPr>
            <a:r>
              <a:t>Average WorkLifeBalance score by job role</a:t>
            </a:r>
          </a:p>
        </p:txBody>
      </p:sp>
      <p:pic>
        <p:nvPicPr>
          <p:cNvPr id="5" name="Picture 4" descr="role_w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7315200" cy="386092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0" y="1417320"/>
            <a:ext cx="28346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0" y="1417320"/>
            <a:ext cx="73152" cy="1188720"/>
          </a:xfrm>
          <a:prstGeom prst="rect">
            <a:avLst/>
          </a:prstGeom>
          <a:solidFill>
            <a:srgbClr val="25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30768" y="1600200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A"/>
                </a:solidFill>
              </a:defRPr>
            </a:pPr>
            <a:r>
              <a:t>2.51</a:t>
            </a:r>
          </a:p>
          <a:p>
            <a:pPr>
              <a:spcBef>
                <a:spcPts val="500"/>
              </a:spcBef>
              <a:defRPr sz="1000">
                <a:solidFill>
                  <a:srgbClr val="5C6874"/>
                </a:solidFill>
              </a:defRPr>
            </a:pPr>
            <a:r>
              <a:t>Highest: Research Scientist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926080"/>
            <a:ext cx="28346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0" y="2926080"/>
            <a:ext cx="73152" cy="1188720"/>
          </a:xfrm>
          <a:prstGeom prst="rect">
            <a:avLst/>
          </a:prstGeom>
          <a:solidFill>
            <a:srgbClr val="2D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30768" y="3108960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A"/>
                </a:solidFill>
              </a:defRPr>
            </a:pPr>
            <a:r>
              <a:t>2.47</a:t>
            </a:r>
          </a:p>
          <a:p>
            <a:pPr>
              <a:spcBef>
                <a:spcPts val="500"/>
              </a:spcBef>
              <a:defRPr sz="1000">
                <a:solidFill>
                  <a:srgbClr val="5C6874"/>
                </a:solidFill>
              </a:defRPr>
            </a:pPr>
            <a:r>
              <a:t>Lowest: Sales Executive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448056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14243A"/>
                </a:solidFill>
              </a:defRPr>
            </a:pPr>
            <a:r>
              <a:t>The score is based on the dataset's 1–4 WorkLifeBalance scale.</a:t>
            </a:r>
          </a:p>
          <a:p>
            <a:pPr>
              <a:spcAft>
                <a:spcPts val="1200"/>
              </a:spcAft>
              <a:defRPr sz="1100">
                <a:solidFill>
                  <a:srgbClr val="14243A"/>
                </a:solidFill>
              </a:defRPr>
            </a:pPr>
            <a:r>
              <a:t>Differences between roles are small, with averages near 2.5.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43A"/>
                </a:solidFill>
              </a:defRPr>
            </a:pPr>
            <a:r>
              <a:t>KPI 6 — Attrition vs Years Since Last Promotion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874"/>
                </a:solidFill>
              </a:defRPr>
            </a:pPr>
            <a:r>
              <a:t>Examining whether promotion timing separates attrition</a:t>
            </a:r>
          </a:p>
        </p:txBody>
      </p:sp>
      <p:pic>
        <p:nvPicPr>
          <p:cNvPr id="5" name="Picture 4" descr="promo_at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7589520" cy="400347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58200" y="1417320"/>
            <a:ext cx="26974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58200" y="1417320"/>
            <a:ext cx="73152" cy="1188720"/>
          </a:xfrm>
          <a:prstGeom prst="rect">
            <a:avLst/>
          </a:prstGeom>
          <a:solidFill>
            <a:srgbClr val="25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59368" y="1600200"/>
            <a:ext cx="2331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A"/>
                </a:solidFill>
              </a:defRPr>
            </a:pPr>
            <a:r>
              <a:t>77.78%</a:t>
            </a:r>
          </a:p>
          <a:p>
            <a:pPr>
              <a:spcBef>
                <a:spcPts val="500"/>
              </a:spcBef>
              <a:defRPr sz="1000">
                <a:solidFill>
                  <a:srgbClr val="5C6874"/>
                </a:solidFill>
              </a:defRPr>
            </a:pPr>
            <a:r>
              <a:t>Highest: 37 years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2926080"/>
            <a:ext cx="26974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458200" y="2926080"/>
            <a:ext cx="73152" cy="1188720"/>
          </a:xfrm>
          <a:prstGeom prst="rect">
            <a:avLst/>
          </a:prstGeom>
          <a:solidFill>
            <a:srgbClr val="2D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59368" y="3108960"/>
            <a:ext cx="2331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A"/>
                </a:solidFill>
              </a:defRPr>
            </a:pPr>
            <a:r>
              <a:t>0.00%</a:t>
            </a:r>
          </a:p>
          <a:p>
            <a:pPr>
              <a:spcBef>
                <a:spcPts val="500"/>
              </a:spcBef>
              <a:defRPr sz="1000">
                <a:solidFill>
                  <a:srgbClr val="5C6874"/>
                </a:solidFill>
              </a:defRPr>
            </a:pPr>
            <a:r>
              <a:t>Lowest: 40 years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4480560"/>
            <a:ext cx="2697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14243A"/>
                </a:solidFill>
              </a:defRPr>
            </a:pPr>
            <a:r>
              <a:t>Most observations occur in the 1–5 year range.</a:t>
            </a:r>
          </a:p>
          <a:p>
            <a:pPr>
              <a:spcAft>
                <a:spcPts val="1200"/>
              </a:spcAft>
              <a:defRPr sz="1100">
                <a:solidFill>
                  <a:srgbClr val="14243A"/>
                </a:solidFill>
              </a:defRPr>
            </a:pPr>
            <a:r>
              <a:t>Attrition fluctuates rather than showing a simple upward or downward trend.</a:t>
            </a:r>
          </a:p>
          <a:p>
            <a:pPr>
              <a:spcAft>
                <a:spcPts val="1200"/>
              </a:spcAft>
              <a:defRPr sz="1100">
                <a:solidFill>
                  <a:srgbClr val="14243A"/>
                </a:solidFill>
              </a:defRPr>
            </a:pPr>
            <a:r>
              <a:t>Promotion timing alone is not a strong separator in this dataset.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43A"/>
                </a:solidFill>
              </a:defRPr>
            </a:pPr>
            <a: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874"/>
                </a:solidFill>
              </a:defRPr>
            </a:pPr>
            <a:r>
              <a:t>What the analysis tells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4243A"/>
                </a:solidFill>
              </a:defRPr>
            </a:pPr>
            <a:r>
              <a:t>Overall attrition is 50.21%, almost evenly split between Yes and No.</a:t>
            </a:r>
          </a:p>
          <a:p>
            <a:pPr>
              <a:spcAft>
                <a:spcPts val="1200"/>
              </a:spcAft>
              <a:defRPr sz="1700">
                <a:solidFill>
                  <a:srgbClr val="14243A"/>
                </a:solidFill>
              </a:defRPr>
            </a:pPr>
            <a:r>
              <a:t>Department-level attrition rates are tightly clustered, with only small differences.</a:t>
            </a:r>
          </a:p>
          <a:p>
            <a:pPr>
              <a:spcAft>
                <a:spcPts val="1200"/>
              </a:spcAft>
              <a:defRPr sz="1700">
                <a:solidFill>
                  <a:srgbClr val="14243A"/>
                </a:solidFill>
              </a:defRPr>
            </a:pPr>
            <a:r>
              <a:t>Monthly income bands also show attrition rates close to 50%.</a:t>
            </a:r>
          </a:p>
          <a:p>
            <a:pPr>
              <a:spcAft>
                <a:spcPts val="1200"/>
              </a:spcAft>
              <a:defRPr sz="1700">
                <a:solidFill>
                  <a:srgbClr val="14243A"/>
                </a:solidFill>
              </a:defRPr>
            </a:pPr>
            <a:r>
              <a:t>Average total working years are similar across departments.</a:t>
            </a:r>
          </a:p>
          <a:p>
            <a:pPr>
              <a:spcAft>
                <a:spcPts val="1200"/>
              </a:spcAft>
              <a:defRPr sz="1700">
                <a:solidFill>
                  <a:srgbClr val="14243A"/>
                </a:solidFill>
              </a:defRPr>
            </a:pPr>
            <a:r>
              <a:t>Work-life balance averages are close across job roles.</a:t>
            </a:r>
          </a:p>
          <a:p>
            <a:pPr>
              <a:spcAft>
                <a:spcPts val="1200"/>
              </a:spcAft>
              <a:defRPr sz="1700">
                <a:solidFill>
                  <a:srgbClr val="14243A"/>
                </a:solidFill>
              </a:defRPr>
            </a:pPr>
            <a:r>
              <a:t>Years since last promotion shows fluctuations rather than a clear linear attrition pattern.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5623560"/>
            <a:ext cx="3749039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206240" y="5623560"/>
            <a:ext cx="73152" cy="594360"/>
          </a:xfrm>
          <a:prstGeom prst="rect">
            <a:avLst/>
          </a:prstGeom>
          <a:solidFill>
            <a:srgbClr val="25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07407" y="5806440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43A"/>
                </a:solidFill>
              </a:defRPr>
            </a:pPr>
            <a:r>
              <a:t>Main takeaway</a:t>
            </a:r>
          </a:p>
          <a:p>
            <a:pPr>
              <a:spcBef>
                <a:spcPts val="500"/>
              </a:spcBef>
              <a:defRPr sz="1000">
                <a:solidFill>
                  <a:srgbClr val="5C6874"/>
                </a:solidFill>
              </a:defRPr>
            </a:pPr>
            <a:r>
              <a:t>No single KPI strongly explains attrition on its own.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43A"/>
                </a:solidFill>
              </a:defRPr>
            </a:pPr>
            <a: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874"/>
                </a:solidFill>
              </a:defRPr>
            </a:pPr>
            <a:r>
              <a:t>How HR teams could use these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4243A"/>
                </a:solidFill>
              </a:defRPr>
            </a:pPr>
            <a:r>
              <a:t>Combine multiple HR factors rather than relying on one KPI to predict attrition.</a:t>
            </a:r>
          </a:p>
          <a:p>
            <a:pPr>
              <a:spcAft>
                <a:spcPts val="1200"/>
              </a:spcAft>
              <a:defRPr sz="1700">
                <a:solidFill>
                  <a:srgbClr val="14243A"/>
                </a:solidFill>
              </a:defRPr>
            </a:pPr>
            <a:r>
              <a:t>Use employee-level dashboards to drill into department, role, income, overtime and tenure together.</a:t>
            </a:r>
          </a:p>
          <a:p>
            <a:pPr>
              <a:spcAft>
                <a:spcPts val="1200"/>
              </a:spcAft>
              <a:defRPr sz="1700">
                <a:solidFill>
                  <a:srgbClr val="14243A"/>
                </a:solidFill>
              </a:defRPr>
            </a:pPr>
            <a:r>
              <a:t>Flag unusual combinations such as high overtime + low satisfaction + long time since promotion.</a:t>
            </a:r>
          </a:p>
          <a:p>
            <a:pPr>
              <a:spcAft>
                <a:spcPts val="1200"/>
              </a:spcAft>
              <a:defRPr sz="1700">
                <a:solidFill>
                  <a:srgbClr val="14243A"/>
                </a:solidFill>
              </a:defRPr>
            </a:pPr>
            <a:r>
              <a:t>Track attrition trends over time and compare them with HR interventions.</a:t>
            </a:r>
          </a:p>
          <a:p>
            <a:pPr>
              <a:spcAft>
                <a:spcPts val="1200"/>
              </a:spcAft>
              <a:defRPr sz="1700">
                <a:solidFill>
                  <a:srgbClr val="14243A"/>
                </a:solidFill>
              </a:defRPr>
            </a:pPr>
            <a:r>
              <a:t>Use the analysis as a starting point for deeper predictive modeling.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332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Conclusion</a:t>
            </a:r>
          </a:p>
          <a:p>
            <a:pPr>
              <a:spcBef>
                <a:spcPts val="2000"/>
              </a:spcBef>
              <a:defRPr sz="2200">
                <a:solidFill>
                  <a:srgbClr val="CDD8E5"/>
                </a:solidFill>
              </a:defRPr>
            </a:pPr>
            <a:r>
              <a:t>The HR dataset provides a broad view of employee retention.</a:t>
            </a:r>
          </a:p>
          <a:p>
            <a:pPr>
              <a:spcBef>
                <a:spcPts val="1600"/>
              </a:spcBef>
              <a:defRPr sz="1800">
                <a:solidFill>
                  <a:srgbClr val="FFFFFF"/>
                </a:solidFill>
              </a:defRPr>
            </a:pPr>
            <a:r>
              <a:t>The six required KPIs reveal patterns, but attrition is not strongly separated by any single factor.</a:t>
            </a:r>
          </a:p>
          <a:p>
            <a:pPr>
              <a:spcBef>
                <a:spcPts val="3000"/>
              </a:spcBef>
              <a:defRPr sz="2800" b="1">
                <a:solidFill>
                  <a:srgbClr val="258C8B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43A"/>
                </a:solidFill>
              </a:defRPr>
            </a:pPr>
            <a:r>
              <a:t>Tableau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874"/>
                </a:solidFill>
              </a:defRPr>
            </a:pPr>
            <a:r>
              <a:t>Interactive HR Analytics dashboard built from the Employee Retention dataset</a:t>
            </a:r>
          </a:p>
        </p:txBody>
      </p:sp>
      <p:pic>
        <p:nvPicPr>
          <p:cNvPr id="5" name="Picture 4" descr="8d950947-02f1-4b39-96ed-66ff061fd9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10927080" cy="4800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" y="6080760"/>
            <a:ext cx="10469880" cy="384048"/>
          </a:xfrm>
          <a:prstGeom prst="roundRect">
            <a:avLst/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FFFFFF"/>
                </a:solidFill>
              </a:defRPr>
            </a:pPr>
            <a:r>
              <a:t>Dashboard highlights: employee count, attrition, active employees, department, gender, hourly rate, work-life balance and promotion analysis.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43A"/>
                </a:solidFill>
              </a:defRPr>
            </a:pPr>
            <a:r>
              <a:rPr dirty="0"/>
              <a:t>Power BI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874"/>
                </a:solidFill>
              </a:defRPr>
            </a:pPr>
            <a:r>
              <a:rPr dirty="0"/>
              <a:t>Interactive Power BI dashboard for KPI monitoring and HR analysis</a:t>
            </a:r>
          </a:p>
        </p:txBody>
      </p:sp>
      <p:pic>
        <p:nvPicPr>
          <p:cNvPr id="5" name="Picture 4" descr="9659a2eb-5f5b-46bb-8fde-ccde367d062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10927080" cy="4800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" y="6080760"/>
            <a:ext cx="10469880" cy="384048"/>
          </a:xfrm>
          <a:prstGeom prst="roundRect">
            <a:avLst/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>
                <a:solidFill>
                  <a:srgbClr val="FFFFFF"/>
                </a:solidFill>
              </a:defRPr>
            </a:pPr>
            <a:r>
              <a:t>Dashboard highlights: 50.21% attrition, 114.45 average hourly rate for male research scientists, department and income analysis.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A90F3-4DA0-C3CE-FBD8-BEBB81E6A8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91E1BF-9C4C-1A76-10EE-568B7FC57C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329749-81AD-18A9-1290-EA8FA2BD7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9" y="838200"/>
            <a:ext cx="10721458" cy="6019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EFF79C-3B35-E458-98CE-A65A7B9CD721}"/>
              </a:ext>
            </a:extLst>
          </p:cNvPr>
          <p:cNvSpPr txBox="1"/>
          <p:nvPr/>
        </p:nvSpPr>
        <p:spPr>
          <a:xfrm>
            <a:off x="435429" y="60007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4243A"/>
                </a:solidFill>
              </a:defRPr>
            </a:pPr>
            <a:r>
              <a:rPr lang="en-IN" sz="2600" dirty="0"/>
              <a:t>Excel Dashboard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305CBB-DDAB-ABFE-023E-DA8C18FF1813}"/>
              </a:ext>
            </a:extLst>
          </p:cNvPr>
          <p:cNvSpPr txBox="1"/>
          <p:nvPr/>
        </p:nvSpPr>
        <p:spPr>
          <a:xfrm>
            <a:off x="435429" y="530679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C6874"/>
                </a:solidFill>
              </a:defRPr>
            </a:pPr>
            <a:r>
              <a:rPr lang="en-US" sz="1100" dirty="0"/>
              <a:t>Interactive Power BI dashboard for KPI monitoring and HR analysis</a:t>
            </a:r>
          </a:p>
        </p:txBody>
      </p:sp>
    </p:spTree>
    <p:extLst>
      <p:ext uri="{BB962C8B-B14F-4D97-AF65-F5344CB8AC3E}">
        <p14:creationId xmlns:p14="http://schemas.microsoft.com/office/powerpoint/2010/main" val="25912440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9436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End-to-End Project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65960"/>
            <a:ext cx="242316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600200" y="2212848"/>
            <a:ext cx="640080" cy="640080"/>
          </a:xfrm>
          <a:prstGeom prst="ellipse">
            <a:avLst/>
          </a:prstGeom>
          <a:solidFill>
            <a:srgbClr val="25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063240"/>
            <a:ext cx="1965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14243A"/>
                </a:solidFill>
              </a:defRPr>
            </a:pPr>
            <a:r>
              <a:t>Excel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2057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5C6874"/>
                </a:solidFill>
              </a:defRPr>
            </a:pPr>
            <a:r>
              <a:t>Data preparation &amp; KPI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1965960"/>
            <a:ext cx="242316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389120" y="2212848"/>
            <a:ext cx="640080" cy="640080"/>
          </a:xfrm>
          <a:prstGeom prst="ellipse">
            <a:avLst/>
          </a:prstGeom>
          <a:solidFill>
            <a:srgbClr val="25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3063240"/>
            <a:ext cx="1965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14243A"/>
                </a:solidFill>
              </a:defRPr>
            </a:pPr>
            <a:r>
              <a:t>Tableau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3566160"/>
            <a:ext cx="2057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5C6874"/>
                </a:solidFill>
              </a:defRPr>
            </a:pPr>
            <a:r>
              <a:t>Interactive visual exploration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965960"/>
            <a:ext cx="242316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178040" y="2212848"/>
            <a:ext cx="640080" cy="640080"/>
          </a:xfrm>
          <a:prstGeom prst="ellipse">
            <a:avLst/>
          </a:prstGeom>
          <a:solidFill>
            <a:srgbClr val="25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3063240"/>
            <a:ext cx="1965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14243A"/>
                </a:solidFill>
              </a:defRPr>
            </a:pPr>
            <a:r>
              <a:t>Power BI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566160"/>
            <a:ext cx="2057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5C6874"/>
                </a:solidFill>
              </a:defRPr>
            </a:pPr>
            <a:r>
              <a:t>Dashboard &amp; business monitoring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965960"/>
            <a:ext cx="242316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966959" y="2212848"/>
            <a:ext cx="640080" cy="640080"/>
          </a:xfrm>
          <a:prstGeom prst="ellipse">
            <a:avLst/>
          </a:prstGeom>
          <a:solidFill>
            <a:srgbClr val="258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3063240"/>
            <a:ext cx="1965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14243A"/>
                </a:solidFill>
              </a:defRPr>
            </a:pPr>
            <a:r>
              <a:t>Insights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59" y="3566160"/>
            <a:ext cx="2057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5C6874"/>
                </a:solidFill>
              </a:defRPr>
            </a:pPr>
            <a:r>
              <a:t>Interpretation &amp; recommendations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212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>
                <a:solidFill>
                  <a:srgbClr val="CDD8E5"/>
                </a:solidFill>
              </a:defRPr>
            </a:pPr>
            <a:r>
              <a:t>The same HR dataset is analyzed from multiple perspectives to support employee-retention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824</Words>
  <Application>Microsoft Office PowerPoint</Application>
  <PresentationFormat>Widescreen</PresentationFormat>
  <Paragraphs>133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Amit Gaikwad</cp:lastModifiedBy>
  <cp:revision>5</cp:revision>
  <dcterms:created xsi:type="dcterms:W3CDTF">2013-01-27T09:14:16Z</dcterms:created>
  <dcterms:modified xsi:type="dcterms:W3CDTF">2026-08-26T09:02:51Z</dcterms:modified>
  <cp:category/>
</cp:coreProperties>
</file>